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05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82880" y="9144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CampusRule AI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2.0  ·  Westbrook University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301752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28803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anything about university policies —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grounded, cited answers instantly."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0" y="6400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Academic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Assistant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Universities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3840480" y="3063240"/>
            <a:ext cx="5029200" cy="3657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4048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RAG · Semantic Search · Local LLM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0" y="3794760"/>
            <a:ext cx="2331720" cy="320040"/>
          </a:xfrm>
          <a:prstGeom prst="roundRect">
            <a:avLst>
              <a:gd name="adj" fmla="val 14286"/>
            </a:avLst>
          </a:prstGeom>
          <a:solidFill>
            <a:srgbClr val="E8EDF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0" y="3794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3794760"/>
            <a:ext cx="2331720" cy="320040"/>
          </a:xfrm>
          <a:prstGeom prst="roundRect">
            <a:avLst>
              <a:gd name="adj" fmla="val 14286"/>
            </a:avLst>
          </a:prstGeom>
          <a:solidFill>
            <a:srgbClr val="E8EDF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0" y="3794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0" y="4251960"/>
            <a:ext cx="2331720" cy="320040"/>
          </a:xfrm>
          <a:prstGeom prst="roundRect">
            <a:avLst>
              <a:gd name="adj" fmla="val 14286"/>
            </a:avLst>
          </a:prstGeom>
          <a:solidFill>
            <a:srgbClr val="E8EDF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0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4251960"/>
            <a:ext cx="2331720" cy="320040"/>
          </a:xfrm>
          <a:prstGeom prst="roundRect">
            <a:avLst>
              <a:gd name="adj" fmla="val 14286"/>
            </a:avLst>
          </a:prstGeom>
          <a:solidFill>
            <a:srgbClr val="E8EDF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0" y="4251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</a:t>
            </a:r>
            <a:endParaRPr lang="en-US" sz="105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E7934B0D-3BEF-00EE-B258-9CD09D0E3028}"/>
              </a:ext>
            </a:extLst>
          </p:cNvPr>
          <p:cNvSpPr/>
          <p:nvPr/>
        </p:nvSpPr>
        <p:spPr>
          <a:xfrm>
            <a:off x="182880" y="3863339"/>
            <a:ext cx="3017520" cy="1123657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r>
              <a:rPr lang="en-US" sz="10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by:</a:t>
            </a:r>
          </a:p>
          <a:p>
            <a:r>
              <a:rPr lang="en-US" sz="10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AP23110010163 - P. Joshith Sai</a:t>
            </a:r>
          </a:p>
          <a:p>
            <a:r>
              <a:rPr lang="en-US" sz="10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AP23110010082 - K. Dinesh</a:t>
            </a:r>
          </a:p>
          <a:p>
            <a:r>
              <a:rPr lang="en-US" sz="10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AP23110010049 - Sailesh</a:t>
            </a:r>
          </a:p>
          <a:p>
            <a:r>
              <a:rPr lang="en-US" sz="10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AP23110010003 - Rakesh</a:t>
            </a:r>
          </a:p>
          <a:p>
            <a:r>
              <a:rPr lang="en-US" sz="10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AP23110010100 – Mukesh Kumar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" y="201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612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Struggle with Academic Policies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0467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54864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09728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maintain 40–100+ policy documents across departments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8046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764792"/>
            <a:ext cx="54864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176479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waste hours searching PDF files for answers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80467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54864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4323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handle repetitive, easily-answerable policy queries daily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099816"/>
            <a:ext cx="8046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3099816"/>
            <a:ext cx="54864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09981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FAQ pages go stale and lack contextual understanding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767328"/>
            <a:ext cx="804672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3767328"/>
            <a:ext cx="54864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7673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acting on wrong or outdated information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80467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44805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Gap:  No intelligent system exists that can answer natural-language policy questions and cite the exact source document.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" y="201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CampusRule AI?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612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Chatbot Grounded 100% in Official Policy Documents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977640" cy="1188720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54864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0352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Queries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49961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ask questions naturally — no keyword tricks needed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3977640" cy="1188720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54864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28032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Official PDFs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49961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searches across all indexed university policy documents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3977640" cy="1188720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54864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0352" y="2606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291693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includes document name, section, and page number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514600"/>
            <a:ext cx="3977640" cy="1188720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54864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8032" y="2606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291693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only answer from what's actually in the documents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E8EDF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Policy Categories: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4074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 ·  Attendance  ·  Exams  ·  Disciplinary  ·  Academic Integrity  ·  Financial Aid  ·  Prerequisites  ·  Withdrawal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" y="201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612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5-Stage RAG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384048"/>
          </a:xfrm>
          <a:prstGeom prst="rect">
            <a:avLst/>
          </a:prstGeom>
          <a:solidFill>
            <a:srgbClr val="F1F3F5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91840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62272" y="1463040"/>
            <a:ext cx="36576" cy="14630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618488"/>
            <a:ext cx="8412480" cy="457200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618488"/>
            <a:ext cx="502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618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6184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6160" y="1618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eligibility / deadline / procedure / rule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62272" y="2084832"/>
            <a:ext cx="36576" cy="14630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8412480" cy="457200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502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6616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semantic search + BM25 keyword search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462272" y="2706624"/>
            <a:ext cx="36576" cy="14630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2862072"/>
            <a:ext cx="8412480" cy="457200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2862072"/>
            <a:ext cx="502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8620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66160" y="28620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score: 70% semantic + 30% keyword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62272" y="3328416"/>
            <a:ext cx="36576" cy="14630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3483864"/>
            <a:ext cx="8412480" cy="457200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65760" y="3483864"/>
            <a:ext cx="50292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48386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34838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56616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(Gemma 7B) with structured prompt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462272" y="3950208"/>
            <a:ext cx="36576" cy="14630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65760" y="4105656"/>
            <a:ext cx="8412480" cy="457200"/>
          </a:xfrm>
          <a:prstGeom prst="rect">
            <a:avLst/>
          </a:prstGeom>
          <a:solidFill>
            <a:srgbClr val="1E3A5F"/>
          </a:solidFill>
          <a:ln w="9525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65760" y="4105656"/>
            <a:ext cx="502920" cy="4572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" y="41056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410565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566160" y="4105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doc + page + section + confidence score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Ollama is offline → RoBERTa extractive QA extracts exact span from text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" y="201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&amp; Indexing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612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48 PDFs Become a Searchable Knowledge Base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75488" y="1161288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1179576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880360" y="11795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60704" y="1417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raw text page by page with accurate layout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819656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5488" y="1929384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0704" y="1883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80360" y="1947672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880360" y="1947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60704" y="218541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400-word chunks with 80-word overlap — no policy clause cut off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587752"/>
            <a:ext cx="8412480" cy="6583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" y="2697480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0704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80360" y="2715768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880360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60704" y="29535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384-dimensional vectors · ~480 total chunks from 48 documents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35584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5488" y="3465576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5488" y="3465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0704" y="34198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880360" y="3483864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880360" y="34838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60704" y="37216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via inner product · saved to disk for fast restart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123944"/>
            <a:ext cx="8412480" cy="6583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5488" y="4233672"/>
            <a:ext cx="420624" cy="42062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60704" y="41879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Index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880360" y="4251960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880360" y="42519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rank_bm25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60704" y="44897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keyword index built for exact-term matching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" y="201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&amp; Re-ranking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612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Search Method Isn't Enough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114800" cy="2743200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Semantic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764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meaning &amp; synonyms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176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I miss class?" → finds attendance docs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2816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miss exact acronyms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114800" cy="2743200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9204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Search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5361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1764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term precision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176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"GPA 3.5" → finds exact value match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2816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paraphrased queries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2084832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25196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65760" y="3977640"/>
            <a:ext cx="8412480" cy="658368"/>
          </a:xfrm>
          <a:prstGeom prst="rect">
            <a:avLst/>
          </a:prstGeom>
          <a:solidFill>
            <a:srgbClr val="E8EDF3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4360" y="3995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Formula: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42702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 =  0.7 × Semantic Score  +  0.3 × Keyword Score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14600" y="3995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chunks are re-ranked by this combined score before being sent to the LLM — giving the best of both worlds.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" y="201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Generation &amp; Intelligence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612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Answers Smart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54864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115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regex classifier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108960" y="11430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query type: eligibility, deadline, procedure, comparison, rule — then adjusts prompt style accordingly (step-by-step / yes-no).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26080" y="1179576"/>
            <a:ext cx="22860" cy="40233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819656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819656"/>
            <a:ext cx="54864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1883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2167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context-aware prompts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08960" y="191109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enforces source-only constraint. Conversation history (last 4 messages) included for multi-turn context.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0" y="1947672"/>
            <a:ext cx="22860" cy="40233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2587752"/>
            <a:ext cx="8412480" cy="6583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2587752"/>
            <a:ext cx="54864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(Gemma 7B)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29352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fully on-campus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08960" y="267919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API. No data leaves campus. Zero third-party dependencies for inference.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926080" y="2715768"/>
            <a:ext cx="22860" cy="40233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65760" y="335584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3355848"/>
            <a:ext cx="54864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34198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94360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of top-3 chunks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08960" y="34472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to user so they know how reliable the answer is before acting on it.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26080" y="3483864"/>
            <a:ext cx="22860" cy="40233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65760" y="4123944"/>
            <a:ext cx="8412480" cy="6583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65760" y="4123944"/>
            <a:ext cx="54864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94360" y="4187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Suggestions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94360" y="44714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contextual questions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108960" y="421538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3 relevant next questions based on intent + detected entities (exam, GPA, withdrawal, etc.).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926080" y="4251960"/>
            <a:ext cx="22860" cy="40233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" y="201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612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Can 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6517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0058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005840"/>
            <a:ext cx="55778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18688" y="1005840"/>
            <a:ext cx="5468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53312"/>
            <a:ext cx="265176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017520" y="1353312"/>
            <a:ext cx="576072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13533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54680" y="13533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 with memory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682496"/>
            <a:ext cx="2651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017520" y="1682496"/>
            <a:ext cx="5760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16824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54680" y="16824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appear in real time (SSE)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011680"/>
            <a:ext cx="265176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017520" y="2011680"/>
            <a:ext cx="576072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2920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154680" y="20116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links to document + page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340864"/>
            <a:ext cx="2651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017520" y="2340864"/>
            <a:ext cx="5760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23408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54680" y="23408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query suggestions as user types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2670048"/>
            <a:ext cx="265176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017520" y="2670048"/>
            <a:ext cx="576072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2920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Browser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154680" y="2670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48 PDFs by category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2999232"/>
            <a:ext cx="2651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017520" y="2999232"/>
            <a:ext cx="5760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02920" y="29992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154680" y="29992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pin, and revisit past chats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328416"/>
            <a:ext cx="265176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017520" y="3328416"/>
            <a:ext cx="576072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2920" y="33284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154680" y="332841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conversations as TXT / MD / DOCX / PDF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3657600"/>
            <a:ext cx="2651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017520" y="3657600"/>
            <a:ext cx="5760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2920" y="3657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154680" y="365760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volume, top categories, confidence trends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3986784"/>
            <a:ext cx="265176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017520" y="3986784"/>
            <a:ext cx="5760720" cy="329184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2920" y="39867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New Docs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154680" y="39867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uploads PDF → auto re-indexes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4315968"/>
            <a:ext cx="2651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017520" y="4315968"/>
            <a:ext cx="5760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2920" y="43159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System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154680" y="43159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up/down per answer for quality tracking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" y="201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612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 &amp; Why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828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005840"/>
            <a:ext cx="22860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377440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353312"/>
            <a:ext cx="18288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286000" y="1353312"/>
            <a:ext cx="22860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1353312"/>
            <a:ext cx="41148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1353312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331720" y="1444752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331720" y="14447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1353312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Async-native, streaming support, auto docs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1828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286000" y="1783080"/>
            <a:ext cx="22860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63440" y="1783080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178308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31720" y="1874520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331720" y="187452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(IndexFlatIP)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1783080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similarity search at scale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2212848"/>
            <a:ext cx="18288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286000" y="2212848"/>
            <a:ext cx="22860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63440" y="2212848"/>
            <a:ext cx="41148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2212848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331720" y="2304288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331720" y="23042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(rank_bm25)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2212848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semantic search for exact terms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2642616"/>
            <a:ext cx="1828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286000" y="2642616"/>
            <a:ext cx="22860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63440" y="2642616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2920" y="2642616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31720" y="2734056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331720" y="27340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2642616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80 MB, strong sentence-level quality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3072384"/>
            <a:ext cx="18288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286000" y="3072384"/>
            <a:ext cx="22860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663440" y="3072384"/>
            <a:ext cx="41148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02920" y="3072384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331720" y="3163824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331720" y="316382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Gemma 7B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54880" y="3072384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— no API key, no data leaves server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65760" y="3502152"/>
            <a:ext cx="1828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286000" y="3502152"/>
            <a:ext cx="22860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663440" y="3502152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02920" y="3502152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Fallback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331720" y="3593592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331720" y="359359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(SQuAD2)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54880" y="3502152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QA — zero hallucination guarantee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3931920"/>
            <a:ext cx="18288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286000" y="3931920"/>
            <a:ext cx="22860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663440" y="3931920"/>
            <a:ext cx="41148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02920" y="3931920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331720" y="4023360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331720" y="40233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754880" y="3931920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text + layout extraction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65760" y="4361688"/>
            <a:ext cx="1828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2286000" y="4361688"/>
            <a:ext cx="22860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663440" y="4361688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02920" y="4361688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331720" y="4453128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331720" y="445312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754880" y="4361688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+ analytics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365760" y="4791456"/>
            <a:ext cx="18288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286000" y="4791456"/>
            <a:ext cx="22860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4663440" y="4791456"/>
            <a:ext cx="4114800" cy="429768"/>
          </a:xfrm>
          <a:prstGeom prst="rect">
            <a:avLst/>
          </a:prstGeom>
          <a:solidFill>
            <a:srgbClr val="F8F9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502920" y="4791456"/>
            <a:ext cx="1645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331720" y="4882896"/>
            <a:ext cx="2103120" cy="246888"/>
          </a:xfrm>
          <a:prstGeom prst="roundRect">
            <a:avLst>
              <a:gd name="adj" fmla="val 14815"/>
            </a:avLst>
          </a:prstGeom>
          <a:solidFill>
            <a:srgbClr val="E8EDF3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2331720" y="488289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754880" y="4791456"/>
            <a:ext cx="3931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dev, responsive modern UI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" y="2011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612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What's Next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8412480" cy="2286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011680" cy="713232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4081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773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 indexed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2011680" cy="713232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14600" y="14081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0" y="1773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chunks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2011680" cy="713232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22311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5760" y="2596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with confidence scoring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14600" y="2194560"/>
            <a:ext cx="2011680" cy="713232"/>
          </a:xfrm>
          <a:prstGeom prst="rect">
            <a:avLst/>
          </a:prstGeom>
          <a:solidFill>
            <a:srgbClr val="F8F9FA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514600" y="22311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14600" y="2596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hallucination-free answers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114800" cy="3657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83480" y="1362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Multi-university support (per-tenant isolation)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865376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83480" y="1837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 for accessibility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340864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83480" y="2313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policy freshness detection (flag outdated docs)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816352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83480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Slack integration for policy alerts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291840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83480" y="3264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with A/B testing for answer quality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767328"/>
            <a:ext cx="201168" cy="2011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83480" y="3739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embedding model on academic policy domain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02920" y="4663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student-to-staff policy queries by ~60–70%  ·  Available 24/7  ·  Extensible to any university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936</Words>
  <Application>Microsoft Office PowerPoint</Application>
  <PresentationFormat>On-screen Show (16:9)</PresentationFormat>
  <Paragraphs>210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CampusRule AI</dc:title>
  <dc:subject>PptxGenJS Presentation</dc:subject>
  <dc:creator>PptxGenJS</dc:creator>
  <cp:lastModifiedBy>AP23110010065 | MOHAMMED FIZAN BAIG</cp:lastModifiedBy>
  <cp:revision>3</cp:revision>
  <dcterms:created xsi:type="dcterms:W3CDTF">2026-05-04T07:30:48Z</dcterms:created>
  <dcterms:modified xsi:type="dcterms:W3CDTF">2026-05-04T07:40:49Z</dcterms:modified>
</cp:coreProperties>
</file>